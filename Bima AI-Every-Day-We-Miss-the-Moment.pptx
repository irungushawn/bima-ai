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3" r:id="rId9"/>
    <p:sldId id="264" r:id="rId10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32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60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2939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8F5"/>
                </a:solidFill>
                <a:latin typeface="Century Gothic" panose="020B0502020202020204" pitchFamily="34" charset="0"/>
                <a:ea typeface="Noto Serif HK Bold" pitchFamily="34" charset="-122"/>
                <a:cs typeface="Noto Serif HK Bold" pitchFamily="34" charset="-120"/>
              </a:rPr>
              <a:t>Every Day, We Miss the Moment</a:t>
            </a:r>
            <a:endParaRPr lang="en-US" sz="4450" dirty="0">
              <a:latin typeface="Century Gothic" panose="020B0502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Century Gothic" panose="020B0502020202020204" pitchFamily="34" charset="0"/>
                <a:ea typeface="Noto Serif HK" pitchFamily="34" charset="-122"/>
                <a:cs typeface="Noto Serif HK" pitchFamily="34" charset="-120"/>
              </a:rPr>
              <a:t>A customer pays school fees on Monday. By Friday, their child is in hospital. They had no education cover. No medical cover. We had their data — we just never connected the dots.</a:t>
            </a:r>
            <a:endParaRPr lang="en-US" sz="1750" dirty="0">
              <a:latin typeface="Century Gothic" panose="020B0502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1FAFB7-8776-A2D6-561E-F8796DA4D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773413"/>
            <a:ext cx="2178122" cy="1089061"/>
          </a:xfrm>
          <a:prstGeom prst="rect">
            <a:avLst/>
          </a:prstGeom>
        </p:spPr>
      </p:pic>
      <p:pic>
        <p:nvPicPr>
          <p:cNvPr id="11" name="Picture 2" descr="red and blue darts in wall around red, white and blue dart board - missed darts stock pictures, royalty-free photos &amp; images">
            <a:extLst>
              <a:ext uri="{FF2B5EF4-FFF2-40B4-BE49-F238E27FC236}">
                <a16:creationId xmlns:a16="http://schemas.microsoft.com/office/drawing/2014/main" id="{7045A3D1-8C5C-9B48-90C8-4E6F451154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80" r="1957"/>
          <a:stretch>
            <a:fillRect/>
          </a:stretch>
        </p:blipFill>
        <p:spPr bwMode="auto">
          <a:xfrm>
            <a:off x="8521227" y="1202074"/>
            <a:ext cx="5667383" cy="6158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4E2A25C-38C3-AE41-AAD1-B6475FC4C7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852971" y="7695344"/>
            <a:ext cx="1664413" cy="452063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45231"/>
            <a:ext cx="922186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8F5"/>
                </a:solidFill>
                <a:latin typeface="Century Gothic" panose="020B0502020202020204" pitchFamily="34" charset="0"/>
                <a:ea typeface="Noto Serif HK Bold" pitchFamily="34" charset="-122"/>
                <a:cs typeface="Noto Serif HK Bold" pitchFamily="34" charset="-120"/>
              </a:rPr>
              <a:t>The Heartbreak We Can Prevent</a:t>
            </a:r>
            <a:endParaRPr lang="en-US" sz="4450" dirty="0">
              <a:latin typeface="Century Gothic" panose="020B0502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3007638"/>
            <a:ext cx="4196358" cy="2032754"/>
          </a:xfrm>
          <a:prstGeom prst="roundRect">
            <a:avLst>
              <a:gd name="adj" fmla="val 1674"/>
            </a:avLst>
          </a:prstGeom>
          <a:solidFill>
            <a:srgbClr val="5F5153"/>
          </a:solidFill>
          <a:ln/>
        </p:spPr>
        <p:txBody>
          <a:bodyPr/>
          <a:lstStyle/>
          <a:p>
            <a:endParaRPr lang="en-US">
              <a:latin typeface="Century Gothic" panose="020B0502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80717" y="3207067"/>
            <a:ext cx="400943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Century Gothic" panose="020B0502020202020204" pitchFamily="34" charset="0"/>
                <a:ea typeface="Noto Serif HK Bold" pitchFamily="34" charset="-122"/>
                <a:cs typeface="Noto Serif HK Bold" pitchFamily="34" charset="-120"/>
              </a:rPr>
              <a:t>3-5% insurance penetration,</a:t>
            </a:r>
          </a:p>
          <a:p>
            <a:pPr marL="0" indent="0" algn="l">
              <a:lnSpc>
                <a:spcPts val="2750"/>
              </a:lnSpc>
              <a:buNone/>
            </a:pPr>
            <a:r>
              <a:rPr lang="en-US" b="1" dirty="0">
                <a:solidFill>
                  <a:srgbClr val="D3C9C5"/>
                </a:solidFill>
                <a:latin typeface="Century Gothic" panose="020B0502020202020204" pitchFamily="34" charset="0"/>
                <a:ea typeface="Noto Serif HK Bold" pitchFamily="34" charset="-122"/>
                <a:cs typeface="Noto Serif HK Bold" pitchFamily="34" charset="-120"/>
              </a:rPr>
              <a:t>with </a:t>
            </a:r>
            <a:r>
              <a:rPr lang="en-US" b="1" dirty="0">
                <a:solidFill>
                  <a:srgbClr val="D3C9C5"/>
                </a:solidFill>
                <a:latin typeface="Century Gothic" panose="020B0502020202020204" pitchFamily="34" charset="0"/>
                <a:ea typeface="Noto Serif HK Bold" pitchFamily="34" charset="-122"/>
              </a:rPr>
              <a:t>15-20% bank penetration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20604" y="4079200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Century Gothic" panose="020B0502020202020204" pitchFamily="34" charset="0"/>
                <a:ea typeface="Noto Serif HK" pitchFamily="34" charset="-122"/>
                <a:cs typeface="Noto Serif HK" pitchFamily="34" charset="-120"/>
              </a:rPr>
              <a:t>Across African markets, leaving millions unprotected</a:t>
            </a:r>
            <a:endParaRPr lang="en-US" sz="1750" dirty="0">
              <a:latin typeface="Century Gothic" panose="020B0502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216962" y="3007638"/>
            <a:ext cx="4196358" cy="2032754"/>
          </a:xfrm>
          <a:prstGeom prst="roundRect">
            <a:avLst>
              <a:gd name="adj" fmla="val 1674"/>
            </a:avLst>
          </a:prstGeom>
          <a:solidFill>
            <a:srgbClr val="5F5153"/>
          </a:solidFill>
          <a:ln/>
        </p:spPr>
        <p:txBody>
          <a:bodyPr/>
          <a:lstStyle/>
          <a:p>
            <a:endParaRPr lang="en-US">
              <a:latin typeface="Century Gothic" panose="020B0502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43776" y="3234452"/>
            <a:ext cx="31615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Century Gothic" panose="020B0502020202020204" pitchFamily="34" charset="0"/>
                <a:ea typeface="Noto Serif HK Bold" pitchFamily="34" charset="-122"/>
                <a:cs typeface="Noto Serif HK Bold" pitchFamily="34" charset="-120"/>
              </a:rPr>
              <a:t>Manual outreach only</a:t>
            </a:r>
            <a:endParaRPr lang="en-US" sz="2200" dirty="0">
              <a:latin typeface="Century Gothic" panose="020B0502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43776" y="3724870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Century Gothic" panose="020B0502020202020204" pitchFamily="34" charset="0"/>
                <a:ea typeface="Noto Serif HK" pitchFamily="34" charset="-122"/>
                <a:cs typeface="Noto Serif HK" pitchFamily="34" charset="-120"/>
              </a:rPr>
              <a:t>Cross-sell driven by relationship managers, not data intelligence</a:t>
            </a:r>
            <a:endParaRPr lang="en-US" sz="1750" dirty="0">
              <a:latin typeface="Century Gothic" panose="020B0502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640133" y="3007638"/>
            <a:ext cx="4196358" cy="2032754"/>
          </a:xfrm>
          <a:prstGeom prst="roundRect">
            <a:avLst>
              <a:gd name="adj" fmla="val 1674"/>
            </a:avLst>
          </a:prstGeom>
          <a:solidFill>
            <a:srgbClr val="5F5153"/>
          </a:solidFill>
          <a:ln/>
        </p:spPr>
        <p:txBody>
          <a:bodyPr/>
          <a:lstStyle/>
          <a:p>
            <a:endParaRPr lang="en-US">
              <a:latin typeface="Century Gothic" panose="020B0502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866948" y="3234452"/>
            <a:ext cx="355580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Century Gothic" panose="020B0502020202020204" pitchFamily="34" charset="0"/>
                <a:ea typeface="Noto Serif HK Bold" pitchFamily="34" charset="-122"/>
                <a:cs typeface="Noto Serif HK Bold" pitchFamily="34" charset="-120"/>
              </a:rPr>
              <a:t>Products offered too late</a:t>
            </a:r>
            <a:endParaRPr lang="en-US" sz="2200" dirty="0">
              <a:latin typeface="Century Gothic" panose="020B0502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866948" y="3724870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Century Gothic" panose="020B0502020202020204" pitchFamily="34" charset="0"/>
                <a:ea typeface="Noto Serif HK" pitchFamily="34" charset="-122"/>
                <a:cs typeface="Noto Serif HK" pitchFamily="34" charset="-120"/>
              </a:rPr>
              <a:t>Customers unaware of relevant coverage at the moment they need it most</a:t>
            </a:r>
            <a:endParaRPr lang="en-US" sz="1750" dirty="0">
              <a:latin typeface="Century Gothic" panose="020B0502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93790" y="5295543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Century Gothic" panose="020B0502020202020204" pitchFamily="34" charset="0"/>
                <a:ea typeface="Noto Serif HK" pitchFamily="34" charset="-122"/>
                <a:cs typeface="Noto Serif HK" pitchFamily="34" charset="-120"/>
              </a:rPr>
              <a:t>Every transaction tells a story. A school fee payment reveals a parent protecting their child's future. A hospital bill shows a family facing unexpected crisis. But today's banking systems don't connect these moments to the insurance that could have prevented financial strain.</a:t>
            </a:r>
            <a:endParaRPr lang="en-US" sz="1750" dirty="0">
              <a:latin typeface="Century Gothic" panose="020B0502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8FF805-0B24-81A8-7C73-41C25704412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760503" y="7674796"/>
            <a:ext cx="1787704" cy="482885"/>
          </a:xfrm>
          <a:prstGeom prst="rect">
            <a:avLst/>
          </a:prstGeom>
          <a:solidFill>
            <a:srgbClr val="40323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E2646F5-8F8C-E286-A925-BA0D133BDA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773413"/>
            <a:ext cx="2178122" cy="10890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8F5"/>
                </a:solidFill>
                <a:latin typeface="Century Gothic" panose="020B0502020202020204" pitchFamily="34" charset="0"/>
                <a:ea typeface="Noto Serif HK Bold" pitchFamily="34" charset="-122"/>
                <a:cs typeface="Noto Serif HK Bold" pitchFamily="34" charset="-120"/>
              </a:rPr>
              <a:t>The Answer Was in the Transactions All Along</a:t>
            </a:r>
            <a:endParaRPr lang="en-US" sz="4450" dirty="0">
              <a:latin typeface="Century Gothic" panose="020B0502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Century Gothic" panose="020B0502020202020204" pitchFamily="34" charset="0"/>
                <a:ea typeface="Noto Serif HK" pitchFamily="34" charset="-122"/>
                <a:cs typeface="Noto Serif HK" pitchFamily="34" charset="-120"/>
              </a:rPr>
              <a:t>Banking data already tells us what customers need — we just haven't been listening. Every payment, every purchase, every transfer contains the clues to what protection a customer needs right now.</a:t>
            </a:r>
            <a:endParaRPr lang="en-US" sz="1750" dirty="0">
              <a:latin typeface="Century Gothic" panose="020B0502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1CEB1E-806F-842B-E38B-DE2F2425A5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781052" y="7736440"/>
            <a:ext cx="1756881" cy="421241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E7A497-C92D-63DB-7459-777C4F3530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773413"/>
            <a:ext cx="2178122" cy="10890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46440"/>
            <a:ext cx="1091541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8F5"/>
                </a:solidFill>
                <a:latin typeface="Century Gothic" panose="020B0502020202020204" pitchFamily="34" charset="0"/>
                <a:ea typeface="Noto Serif HK Bold" pitchFamily="34" charset="-122"/>
                <a:cs typeface="Noto Serif HK Bold" pitchFamily="34" charset="-120"/>
              </a:rPr>
              <a:t>How Banking Data Maps to Protection</a:t>
            </a:r>
            <a:endParaRPr lang="en-US" sz="4450" dirty="0">
              <a:latin typeface="Century Gothic" panose="020B0502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208848"/>
            <a:ext cx="13042821" cy="3993356"/>
          </a:xfrm>
          <a:prstGeom prst="roundRect">
            <a:avLst>
              <a:gd name="adj" fmla="val 852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Century Gothic" panose="020B0502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01410" y="2216468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>
              <a:latin typeface="Century Gothic" panose="020B0502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28224" y="2360176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3C9C5"/>
                </a:solidFill>
                <a:latin typeface="Century Gothic" panose="020B0502020202020204" pitchFamily="34" charset="0"/>
                <a:ea typeface="Noto Serif HK" pitchFamily="34" charset="-122"/>
                <a:cs typeface="Noto Serif HK" pitchFamily="34" charset="-120"/>
              </a:rPr>
              <a:t>Transaction Detected</a:t>
            </a:r>
            <a:endParaRPr lang="en-US" sz="1750" dirty="0">
              <a:latin typeface="Century Gothic" panose="020B0502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545824" y="2360176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3C9C5"/>
                </a:solidFill>
                <a:latin typeface="Century Gothic" panose="020B0502020202020204" pitchFamily="34" charset="0"/>
                <a:ea typeface="Noto Serif HK" pitchFamily="34" charset="-122"/>
                <a:cs typeface="Noto Serif HK" pitchFamily="34" charset="-120"/>
              </a:rPr>
              <a:t>Insurance Trigger</a:t>
            </a:r>
            <a:endParaRPr lang="en-US" sz="1750" dirty="0">
              <a:latin typeface="Century Gothic" panose="020B0502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01410" y="2866787"/>
            <a:ext cx="13027581" cy="66555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>
              <a:latin typeface="Century Gothic" panose="020B0502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28224" y="3010495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Century Gothic" panose="020B0502020202020204" pitchFamily="34" charset="0"/>
                <a:ea typeface="Noto Serif HK" pitchFamily="34" charset="-122"/>
                <a:cs typeface="Noto Serif HK" pitchFamily="34" charset="-120"/>
              </a:rPr>
              <a:t>School fees payment</a:t>
            </a:r>
            <a:endParaRPr lang="en-US" sz="1750" dirty="0">
              <a:latin typeface="Century Gothic" panose="020B0502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45824" y="3010495"/>
            <a:ext cx="6056352" cy="378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Century Gothic" panose="020B0502020202020204" pitchFamily="34" charset="0"/>
                <a:ea typeface="Noto Serif HK" pitchFamily="34" charset="-122"/>
                <a:cs typeface="Noto Serif HK" pitchFamily="34" charset="-120"/>
              </a:rPr>
              <a:t>🎓</a:t>
            </a:r>
            <a:r>
              <a:rPr lang="en-US" sz="1750" dirty="0">
                <a:solidFill>
                  <a:srgbClr val="D3C9C5"/>
                </a:solidFill>
                <a:latin typeface="Century Gothic" panose="020B0502020202020204" pitchFamily="34" charset="0"/>
                <a:ea typeface="Noto Serif HK" pitchFamily="34" charset="-122"/>
                <a:cs typeface="Noto Serif HK" pitchFamily="34" charset="-120"/>
              </a:rPr>
              <a:t> Education Cover</a:t>
            </a:r>
            <a:endParaRPr lang="en-US" sz="1750" dirty="0">
              <a:latin typeface="Century Gothic" panose="020B0502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01410" y="3532346"/>
            <a:ext cx="13027581" cy="66555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>
              <a:latin typeface="Century Gothic" panose="020B0502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28224" y="3676055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Century Gothic" panose="020B0502020202020204" pitchFamily="34" charset="0"/>
                <a:ea typeface="Noto Serif HK" pitchFamily="34" charset="-122"/>
                <a:cs typeface="Noto Serif HK" pitchFamily="34" charset="-120"/>
              </a:rPr>
              <a:t>Electronics purchase</a:t>
            </a:r>
            <a:endParaRPr lang="en-US" sz="1750" dirty="0">
              <a:latin typeface="Century Gothic" panose="020B0502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545824" y="3676055"/>
            <a:ext cx="6056352" cy="378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Century Gothic" panose="020B0502020202020204" pitchFamily="34" charset="0"/>
                <a:ea typeface="Noto Serif HK" pitchFamily="34" charset="-122"/>
                <a:cs typeface="Noto Serif HK" pitchFamily="34" charset="-120"/>
              </a:rPr>
              <a:t>📱</a:t>
            </a:r>
            <a:r>
              <a:rPr lang="en-US" sz="1750" dirty="0">
                <a:solidFill>
                  <a:srgbClr val="D3C9C5"/>
                </a:solidFill>
                <a:latin typeface="Century Gothic" panose="020B0502020202020204" pitchFamily="34" charset="0"/>
                <a:ea typeface="Noto Serif HK" pitchFamily="34" charset="-122"/>
                <a:cs typeface="Noto Serif HK" pitchFamily="34" charset="-120"/>
              </a:rPr>
              <a:t> Gadget Insurance</a:t>
            </a:r>
            <a:endParaRPr lang="en-US" sz="1750" dirty="0">
              <a:latin typeface="Century Gothic" panose="020B0502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01410" y="4197906"/>
            <a:ext cx="13027581" cy="66555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>
              <a:latin typeface="Century Gothic" panose="020B0502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28224" y="4341614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Century Gothic" panose="020B0502020202020204" pitchFamily="34" charset="0"/>
                <a:ea typeface="Noto Serif HK" pitchFamily="34" charset="-122"/>
                <a:cs typeface="Noto Serif HK" pitchFamily="34" charset="-120"/>
              </a:rPr>
              <a:t>Travel booking</a:t>
            </a:r>
            <a:endParaRPr lang="en-US" sz="1750" dirty="0">
              <a:latin typeface="Century Gothic" panose="020B0502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545824" y="4341614"/>
            <a:ext cx="6056352" cy="378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Century Gothic" panose="020B0502020202020204" pitchFamily="34" charset="0"/>
                <a:ea typeface="Noto Serif HK" pitchFamily="34" charset="-122"/>
                <a:cs typeface="Noto Serif HK" pitchFamily="34" charset="-120"/>
              </a:rPr>
              <a:t>✈️</a:t>
            </a:r>
            <a:r>
              <a:rPr lang="en-US" sz="1750" dirty="0">
                <a:solidFill>
                  <a:srgbClr val="D3C9C5"/>
                </a:solidFill>
                <a:latin typeface="Century Gothic" panose="020B0502020202020204" pitchFamily="34" charset="0"/>
                <a:ea typeface="Noto Serif HK" pitchFamily="34" charset="-122"/>
                <a:cs typeface="Noto Serif HK" pitchFamily="34" charset="-120"/>
              </a:rPr>
              <a:t> Travel Insurance</a:t>
            </a:r>
            <a:endParaRPr lang="en-US" sz="1750" dirty="0">
              <a:latin typeface="Century Gothic" panose="020B0502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01410" y="4863465"/>
            <a:ext cx="13027581" cy="66555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>
              <a:latin typeface="Century Gothic" panose="020B0502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28224" y="5007173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Century Gothic" panose="020B0502020202020204" pitchFamily="34" charset="0"/>
                <a:ea typeface="Noto Serif HK" pitchFamily="34" charset="-122"/>
                <a:cs typeface="Noto Serif HK" pitchFamily="34" charset="-120"/>
              </a:rPr>
              <a:t>Hospital/pharmacy bill</a:t>
            </a:r>
            <a:endParaRPr lang="en-US" sz="1750" dirty="0">
              <a:latin typeface="Century Gothic" panose="020B0502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545824" y="5007173"/>
            <a:ext cx="6056352" cy="378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Century Gothic" panose="020B0502020202020204" pitchFamily="34" charset="0"/>
                <a:ea typeface="Noto Serif HK" pitchFamily="34" charset="-122"/>
                <a:cs typeface="Noto Serif HK" pitchFamily="34" charset="-120"/>
              </a:rPr>
              <a:t>🏥</a:t>
            </a:r>
            <a:r>
              <a:rPr lang="en-US" sz="1750" dirty="0">
                <a:solidFill>
                  <a:srgbClr val="D3C9C5"/>
                </a:solidFill>
                <a:latin typeface="Century Gothic" panose="020B0502020202020204" pitchFamily="34" charset="0"/>
                <a:ea typeface="Noto Serif HK" pitchFamily="34" charset="-122"/>
                <a:cs typeface="Noto Serif HK" pitchFamily="34" charset="-120"/>
              </a:rPr>
              <a:t> Medical Cover</a:t>
            </a:r>
            <a:endParaRPr lang="en-US" sz="1750" dirty="0">
              <a:latin typeface="Century Gothic" panose="020B0502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01410" y="5529024"/>
            <a:ext cx="13027581" cy="66555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>
              <a:latin typeface="Century Gothic" panose="020B0502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28224" y="5672733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Century Gothic" panose="020B0502020202020204" pitchFamily="34" charset="0"/>
                <a:ea typeface="Noto Serif HK" pitchFamily="34" charset="-122"/>
                <a:cs typeface="Noto Serif HK" pitchFamily="34" charset="-120"/>
              </a:rPr>
              <a:t>Fuel transaction</a:t>
            </a:r>
            <a:endParaRPr lang="en-US" sz="1750" dirty="0">
              <a:latin typeface="Century Gothic" panose="020B0502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545824" y="5672733"/>
            <a:ext cx="6056352" cy="378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Century Gothic" panose="020B0502020202020204" pitchFamily="34" charset="0"/>
                <a:ea typeface="Noto Serif HK" pitchFamily="34" charset="-122"/>
                <a:cs typeface="Noto Serif HK" pitchFamily="34" charset="-120"/>
              </a:rPr>
              <a:t>🚗</a:t>
            </a:r>
            <a:r>
              <a:rPr lang="en-US" sz="1750" dirty="0">
                <a:solidFill>
                  <a:srgbClr val="D3C9C5"/>
                </a:solidFill>
                <a:latin typeface="Century Gothic" panose="020B0502020202020204" pitchFamily="34" charset="0"/>
                <a:ea typeface="Noto Serif HK" pitchFamily="34" charset="-122"/>
                <a:cs typeface="Noto Serif HK" pitchFamily="34" charset="-120"/>
              </a:rPr>
              <a:t> Motor Insurance</a:t>
            </a:r>
            <a:endParaRPr lang="en-US" sz="1750" dirty="0">
              <a:latin typeface="Century Gothic" panose="020B0502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93790" y="645735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Century Gothic" panose="020B0502020202020204" pitchFamily="34" charset="0"/>
                <a:ea typeface="Noto Serif HK" pitchFamily="34" charset="-122"/>
                <a:cs typeface="Noto Serif HK" pitchFamily="34" charset="-120"/>
              </a:rPr>
              <a:t>Real-time transaction monitoring identifies life moments as they happen — then instantly surfaces relevant insurance products before it's too late.</a:t>
            </a:r>
            <a:endParaRPr lang="en-US" sz="1750" dirty="0">
              <a:latin typeface="Century Gothic" panose="020B0502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B19B77D-4E41-0F69-D822-9D306F28AB5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791326" y="7736440"/>
            <a:ext cx="1736332" cy="410967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107D8D7-B443-47E2-CA30-83C644863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9202" y="306237"/>
            <a:ext cx="2178122" cy="10890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8506" y="527242"/>
            <a:ext cx="4721126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8F5"/>
                </a:solidFill>
                <a:latin typeface="Century Gothic" panose="020B0502020202020204" pitchFamily="34" charset="0"/>
                <a:ea typeface="Noto Serif HK Bold" pitchFamily="34" charset="-122"/>
                <a:cs typeface="Noto Serif HK Bold" pitchFamily="34" charset="-120"/>
              </a:rPr>
              <a:t>Financial Unity</a:t>
            </a:r>
          </a:p>
          <a:p>
            <a:pPr marL="0" indent="0" algn="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8F5"/>
                </a:solidFill>
                <a:latin typeface="Century Gothic" panose="020B0502020202020204" pitchFamily="34" charset="0"/>
                <a:ea typeface="Noto Serif HK Bold" pitchFamily="34" charset="-122"/>
                <a:cs typeface="Noto Serif HK Bold" pitchFamily="34" charset="-120"/>
              </a:rPr>
              <a:t>Protection for All</a:t>
            </a:r>
            <a:endParaRPr lang="en-US" sz="4450" dirty="0">
              <a:latin typeface="Century Gothic" panose="020B0502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288288" y="2319013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D3C9C5"/>
                </a:solidFill>
                <a:latin typeface="Century Gothic" panose="020B0502020202020204" pitchFamily="34" charset="0"/>
                <a:ea typeface="Noto Serif HK" pitchFamily="34" charset="-122"/>
                <a:cs typeface="Noto Serif HK" pitchFamily="34" charset="-120"/>
              </a:rPr>
              <a:t>Bima AI is not just a recommendation engine — it is an expression of Ubuntu: </a:t>
            </a:r>
            <a:r>
              <a:rPr lang="en-US" sz="2400" i="1" dirty="0">
                <a:solidFill>
                  <a:srgbClr val="D3C9C5"/>
                </a:solidFill>
                <a:latin typeface="Century Gothic" panose="020B0502020202020204" pitchFamily="34" charset="0"/>
                <a:ea typeface="Noto Serif HK" pitchFamily="34" charset="-122"/>
                <a:cs typeface="Noto Serif HK" pitchFamily="34" charset="-120"/>
              </a:rPr>
              <a:t>"I am protected because we are connected.</a:t>
            </a:r>
            <a:endParaRPr lang="en-US" sz="2400" dirty="0">
              <a:latin typeface="Century Gothic" panose="020B0502020202020204" pitchFamily="34" charset="0"/>
            </a:endParaRP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B329D390-1CF4-B89E-0D1D-255D4542DEE7}"/>
              </a:ext>
            </a:extLst>
          </p:cNvPr>
          <p:cNvSpPr/>
          <p:nvPr/>
        </p:nvSpPr>
        <p:spPr>
          <a:xfrm>
            <a:off x="988998" y="428208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8F5"/>
                </a:solidFill>
                <a:latin typeface="Century Gothic" panose="020B0502020202020204" pitchFamily="34" charset="0"/>
                <a:ea typeface="Noto Serif HK Bold" pitchFamily="34" charset="-122"/>
                <a:cs typeface="Noto Serif HK Bold" pitchFamily="34" charset="-120"/>
              </a:rPr>
              <a:t>The Vision</a:t>
            </a:r>
            <a:endParaRPr lang="en-US" sz="4450" dirty="0">
              <a:latin typeface="Century Gothic" panose="020B0502020202020204" pitchFamily="34" charset="0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6BDA5389-8C53-0DCB-26D2-FFC645157FA2}"/>
              </a:ext>
            </a:extLst>
          </p:cNvPr>
          <p:cNvSpPr/>
          <p:nvPr/>
        </p:nvSpPr>
        <p:spPr>
          <a:xfrm>
            <a:off x="988998" y="5365075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Century Gothic" panose="020B0502020202020204" pitchFamily="34" charset="0"/>
                <a:ea typeface="Noto Serif HK" pitchFamily="34" charset="-122"/>
                <a:cs typeface="Noto Serif HK" pitchFamily="34" charset="-120"/>
              </a:rPr>
              <a:t>When a bank truly knows its customer, it can protect them before they even know they need it. Your transaction data doesn't just tell us what you bought — it tells us who you are, what you're building, and what you stand to lose.</a:t>
            </a:r>
            <a:endParaRPr lang="en-US" sz="1750" dirty="0">
              <a:latin typeface="Century Gothic" panose="020B0502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F548DF-A584-6206-6D66-587D2C27BC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773413"/>
            <a:ext cx="2178122" cy="10890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736890"/>
            <a:ext cx="574631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8F5"/>
                </a:solidFill>
                <a:latin typeface="Century Gothic" panose="020B0502020202020204" pitchFamily="34" charset="0"/>
                <a:ea typeface="Noto Serif HK Bold" pitchFamily="34" charset="-122"/>
                <a:cs typeface="Noto Serif HK Bold" pitchFamily="34" charset="-120"/>
              </a:rPr>
              <a:t>The Moment Is Now</a:t>
            </a:r>
            <a:endParaRPr lang="en-US" sz="4450" dirty="0">
              <a:latin typeface="Century Gothic" panose="020B0502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3785830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Century Gothic" panose="020B0502020202020204" pitchFamily="34" charset="0"/>
                <a:ea typeface="Noto Serif HK" pitchFamily="34" charset="-122"/>
                <a:cs typeface="Noto Serif HK" pitchFamily="34" charset="-120"/>
              </a:rPr>
              <a:t>Every day, we have the data. Every day, we miss the moment. Bima AI connects the dots — turning banking transactions into protection, and data into dignity.</a:t>
            </a:r>
            <a:endParaRPr lang="en-US" sz="1750" dirty="0">
              <a:latin typeface="Century Gothic" panose="020B0502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280190" y="512968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3C9C5"/>
                </a:solidFill>
                <a:latin typeface="Century Gothic" panose="020B0502020202020204" pitchFamily="34" charset="0"/>
                <a:ea typeface="Noto Serif HK" pitchFamily="34" charset="-122"/>
                <a:cs typeface="Noto Serif HK" pitchFamily="34" charset="-120"/>
              </a:rPr>
              <a:t>Join us in building financial protection for all.</a:t>
            </a:r>
            <a:endParaRPr lang="en-US" sz="1750" dirty="0">
              <a:latin typeface="Century Gothic" panose="020B0502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EA362D-C200-1538-3101-639DA2A638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3890" y="431800"/>
            <a:ext cx="2178122" cy="10890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1071" y="609481"/>
            <a:ext cx="5731907" cy="576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FFF8F5"/>
                </a:solidFill>
                <a:latin typeface="Century Gothic" panose="020B0502020202020204" pitchFamily="34" charset="0"/>
                <a:ea typeface="Noto Serif HK Bold" pitchFamily="34" charset="-122"/>
                <a:cs typeface="Noto Serif HK Bold" pitchFamily="34" charset="-120"/>
              </a:rPr>
              <a:t>The Ripple of Protection</a:t>
            </a:r>
            <a:endParaRPr lang="en-US" sz="3600" dirty="0">
              <a:latin typeface="Century Gothic" panose="020B0502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135499" y="1762601"/>
            <a:ext cx="184428" cy="829985"/>
          </a:xfrm>
          <a:prstGeom prst="roundRect">
            <a:avLst>
              <a:gd name="adj" fmla="val 15003"/>
            </a:avLst>
          </a:prstGeom>
          <a:solidFill>
            <a:srgbClr val="5F5153"/>
          </a:solidFill>
          <a:ln/>
        </p:spPr>
        <p:txBody>
          <a:bodyPr/>
          <a:lstStyle/>
          <a:p>
            <a:endParaRPr lang="en-US" sz="2400">
              <a:latin typeface="Century Gothic" panose="020B0502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51071" y="1641515"/>
            <a:ext cx="553403" cy="553403"/>
          </a:xfrm>
          <a:prstGeom prst="roundRect">
            <a:avLst>
              <a:gd name="adj" fmla="val 82616"/>
            </a:avLst>
          </a:prstGeom>
          <a:solidFill>
            <a:srgbClr val="5F5153"/>
          </a:solidFill>
          <a:ln/>
        </p:spPr>
        <p:txBody>
          <a:bodyPr/>
          <a:lstStyle/>
          <a:p>
            <a:endParaRPr lang="en-US" sz="2400">
              <a:latin typeface="Century Gothic" panose="020B0502020202020204" pitchFamily="34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9422" y="1779865"/>
            <a:ext cx="276701" cy="2767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54493" y="1670328"/>
            <a:ext cx="2305764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b="1" dirty="0">
                <a:solidFill>
                  <a:srgbClr val="D3C9C5"/>
                </a:solidFill>
                <a:latin typeface="Century Gothic" panose="020B0502020202020204" pitchFamily="34" charset="0"/>
                <a:ea typeface="Noto Serif HK Bold" pitchFamily="34" charset="-122"/>
                <a:cs typeface="Noto Serif HK Bold" pitchFamily="34" charset="-120"/>
              </a:rPr>
              <a:t>The Individual</a:t>
            </a:r>
            <a:endParaRPr lang="en-US" sz="2400" dirty="0">
              <a:latin typeface="Century Gothic" panose="020B0502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654493" y="2048589"/>
            <a:ext cx="12024836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dirty="0">
                <a:solidFill>
                  <a:srgbClr val="D3C9C5"/>
                </a:solidFill>
                <a:latin typeface="Century Gothic" panose="020B0502020202020204" pitchFamily="34" charset="0"/>
                <a:ea typeface="Noto Serif HK" pitchFamily="34" charset="-122"/>
                <a:cs typeface="Noto Serif HK" pitchFamily="34" charset="-120"/>
              </a:rPr>
              <a:t>Seen, known, protected through banking data intelligence</a:t>
            </a:r>
            <a:endParaRPr lang="en-US" sz="2000" dirty="0">
              <a:latin typeface="Century Gothic" panose="020B0502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412200" y="3019425"/>
            <a:ext cx="184428" cy="829985"/>
          </a:xfrm>
          <a:prstGeom prst="roundRect">
            <a:avLst>
              <a:gd name="adj" fmla="val 15003"/>
            </a:avLst>
          </a:prstGeom>
          <a:solidFill>
            <a:srgbClr val="5F5153"/>
          </a:solidFill>
          <a:ln/>
        </p:spPr>
        <p:txBody>
          <a:bodyPr/>
          <a:lstStyle/>
          <a:p>
            <a:endParaRPr lang="en-US" sz="2400">
              <a:latin typeface="Century Gothic" panose="020B0502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227773" y="2898338"/>
            <a:ext cx="553403" cy="553403"/>
          </a:xfrm>
          <a:prstGeom prst="roundRect">
            <a:avLst>
              <a:gd name="adj" fmla="val 82616"/>
            </a:avLst>
          </a:prstGeom>
          <a:solidFill>
            <a:srgbClr val="5F5153"/>
          </a:solidFill>
          <a:ln/>
        </p:spPr>
        <p:txBody>
          <a:bodyPr/>
          <a:lstStyle/>
          <a:p>
            <a:endParaRPr lang="en-US" sz="2400">
              <a:latin typeface="Century Gothic" panose="020B0502020202020204" pitchFamily="34" charset="0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66123" y="3036689"/>
            <a:ext cx="276701" cy="27670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31194" y="2927152"/>
            <a:ext cx="2305764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b="1" dirty="0">
                <a:solidFill>
                  <a:srgbClr val="D3C9C5"/>
                </a:solidFill>
                <a:latin typeface="Century Gothic" panose="020B0502020202020204" pitchFamily="34" charset="0"/>
                <a:ea typeface="Noto Serif HK Bold" pitchFamily="34" charset="-122"/>
                <a:cs typeface="Noto Serif HK Bold" pitchFamily="34" charset="-120"/>
              </a:rPr>
              <a:t>The Family</a:t>
            </a:r>
            <a:endParaRPr lang="en-US" sz="2400" dirty="0">
              <a:latin typeface="Century Gothic" panose="020B0502020202020204" pitchFamily="34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1931194" y="3305413"/>
            <a:ext cx="11748135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dirty="0">
                <a:solidFill>
                  <a:srgbClr val="D3C9C5"/>
                </a:solidFill>
                <a:latin typeface="Century Gothic" panose="020B0502020202020204" pitchFamily="34" charset="0"/>
                <a:ea typeface="Noto Serif HK" pitchFamily="34" charset="-122"/>
                <a:cs typeface="Noto Serif HK" pitchFamily="34" charset="-120"/>
              </a:rPr>
              <a:t>School fees, medical, life cover triggered by real moments</a:t>
            </a:r>
            <a:endParaRPr lang="en-US" sz="2000" dirty="0">
              <a:latin typeface="Century Gothic" panose="020B0502020202020204" pitchFamily="34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1688902" y="4276249"/>
            <a:ext cx="184428" cy="829985"/>
          </a:xfrm>
          <a:prstGeom prst="roundRect">
            <a:avLst>
              <a:gd name="adj" fmla="val 15003"/>
            </a:avLst>
          </a:prstGeom>
          <a:solidFill>
            <a:srgbClr val="5F5153"/>
          </a:solidFill>
          <a:ln/>
        </p:spPr>
        <p:txBody>
          <a:bodyPr/>
          <a:lstStyle/>
          <a:p>
            <a:endParaRPr lang="en-US" sz="2400">
              <a:latin typeface="Century Gothic" panose="020B0502020202020204" pitchFamily="34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1504474" y="4155162"/>
            <a:ext cx="553403" cy="553403"/>
          </a:xfrm>
          <a:prstGeom prst="roundRect">
            <a:avLst>
              <a:gd name="adj" fmla="val 82616"/>
            </a:avLst>
          </a:prstGeom>
          <a:solidFill>
            <a:srgbClr val="5F5153"/>
          </a:solidFill>
          <a:ln/>
        </p:spPr>
        <p:txBody>
          <a:bodyPr/>
          <a:lstStyle/>
          <a:p>
            <a:endParaRPr lang="en-US" sz="2400">
              <a:latin typeface="Century Gothic" panose="020B0502020202020204" pitchFamily="34" charset="0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42824" y="4293513"/>
            <a:ext cx="276701" cy="27670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207895" y="4183975"/>
            <a:ext cx="2305764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b="1" dirty="0">
                <a:solidFill>
                  <a:srgbClr val="D3C9C5"/>
                </a:solidFill>
                <a:latin typeface="Century Gothic" panose="020B0502020202020204" pitchFamily="34" charset="0"/>
                <a:ea typeface="Noto Serif HK Bold" pitchFamily="34" charset="-122"/>
                <a:cs typeface="Noto Serif HK Bold" pitchFamily="34" charset="-120"/>
              </a:rPr>
              <a:t>The Community</a:t>
            </a:r>
            <a:endParaRPr lang="en-US" sz="2400" dirty="0">
              <a:latin typeface="Century Gothic" panose="020B0502020202020204" pitchFamily="34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2207895" y="4562237"/>
            <a:ext cx="11471434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dirty="0">
                <a:solidFill>
                  <a:srgbClr val="D3C9C5"/>
                </a:solidFill>
                <a:latin typeface="Century Gothic" panose="020B0502020202020204" pitchFamily="34" charset="0"/>
                <a:ea typeface="Noto Serif HK" pitchFamily="34" charset="-122"/>
                <a:cs typeface="Noto Serif HK" pitchFamily="34" charset="-120"/>
              </a:rPr>
              <a:t>Small business owners, farmers, informal sector customers reached through banking data</a:t>
            </a:r>
            <a:endParaRPr lang="en-US" sz="2000" dirty="0">
              <a:latin typeface="Century Gothic" panose="020B0502020202020204" pitchFamily="34" charset="0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1965603" y="5533072"/>
            <a:ext cx="184428" cy="829985"/>
          </a:xfrm>
          <a:prstGeom prst="roundRect">
            <a:avLst>
              <a:gd name="adj" fmla="val 15003"/>
            </a:avLst>
          </a:prstGeom>
          <a:solidFill>
            <a:srgbClr val="5F5153"/>
          </a:solidFill>
          <a:ln/>
        </p:spPr>
        <p:txBody>
          <a:bodyPr/>
          <a:lstStyle/>
          <a:p>
            <a:endParaRPr lang="en-US" sz="2400">
              <a:latin typeface="Century Gothic" panose="020B0502020202020204" pitchFamily="34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1781175" y="5411986"/>
            <a:ext cx="553403" cy="553403"/>
          </a:xfrm>
          <a:prstGeom prst="roundRect">
            <a:avLst>
              <a:gd name="adj" fmla="val 82616"/>
            </a:avLst>
          </a:prstGeom>
          <a:solidFill>
            <a:srgbClr val="5F5153"/>
          </a:solidFill>
          <a:ln/>
        </p:spPr>
        <p:txBody>
          <a:bodyPr/>
          <a:lstStyle/>
          <a:p>
            <a:endParaRPr lang="en-US" sz="2400">
              <a:latin typeface="Century Gothic" panose="020B0502020202020204" pitchFamily="34" charset="0"/>
            </a:endParaRPr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19526" y="5550337"/>
            <a:ext cx="276701" cy="27670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484596" y="5440799"/>
            <a:ext cx="2305764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b="1" dirty="0">
                <a:solidFill>
                  <a:srgbClr val="D3C9C5"/>
                </a:solidFill>
                <a:latin typeface="Century Gothic" panose="020B0502020202020204" pitchFamily="34" charset="0"/>
                <a:ea typeface="Noto Serif HK Bold" pitchFamily="34" charset="-122"/>
                <a:cs typeface="Noto Serif HK Bold" pitchFamily="34" charset="-120"/>
              </a:rPr>
              <a:t>The Institution</a:t>
            </a:r>
            <a:endParaRPr lang="en-US" sz="2400" dirty="0">
              <a:latin typeface="Century Gothic" panose="020B0502020202020204" pitchFamily="34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2484596" y="5819061"/>
            <a:ext cx="11194733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dirty="0">
                <a:solidFill>
                  <a:srgbClr val="D3C9C5"/>
                </a:solidFill>
                <a:latin typeface="Century Gothic" panose="020B0502020202020204" pitchFamily="34" charset="0"/>
                <a:ea typeface="Noto Serif HK" pitchFamily="34" charset="-122"/>
                <a:cs typeface="Noto Serif HK" pitchFamily="34" charset="-120"/>
              </a:rPr>
              <a:t>NCBA IG, regulators — the ecosystem that enables protection at scale, </a:t>
            </a:r>
            <a:endParaRPr lang="en-US" sz="2000" dirty="0">
              <a:latin typeface="Century Gothic" panose="020B0502020202020204" pitchFamily="34" charset="0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1688902" y="6789896"/>
            <a:ext cx="184428" cy="829985"/>
          </a:xfrm>
          <a:prstGeom prst="roundRect">
            <a:avLst>
              <a:gd name="adj" fmla="val 15003"/>
            </a:avLst>
          </a:prstGeom>
          <a:solidFill>
            <a:srgbClr val="5F5153"/>
          </a:solidFill>
          <a:ln/>
        </p:spPr>
        <p:txBody>
          <a:bodyPr/>
          <a:lstStyle/>
          <a:p>
            <a:endParaRPr lang="en-US">
              <a:latin typeface="Century Gothic" panose="020B0502020202020204" pitchFamily="34" charset="0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1504474" y="6668810"/>
            <a:ext cx="553403" cy="553403"/>
          </a:xfrm>
          <a:prstGeom prst="roundRect">
            <a:avLst>
              <a:gd name="adj" fmla="val 82616"/>
            </a:avLst>
          </a:prstGeom>
          <a:solidFill>
            <a:srgbClr val="5F5153"/>
          </a:solidFill>
          <a:ln/>
        </p:spPr>
        <p:txBody>
          <a:bodyPr/>
          <a:lstStyle/>
          <a:p>
            <a:endParaRPr lang="en-US" sz="2400">
              <a:latin typeface="Century Gothic" panose="020B0502020202020204" pitchFamily="34" charset="0"/>
            </a:endParaRPr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642824" y="6807160"/>
            <a:ext cx="276701" cy="27670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2207895" y="6697623"/>
            <a:ext cx="2305764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b="1" dirty="0">
                <a:solidFill>
                  <a:srgbClr val="D3C9C5"/>
                </a:solidFill>
                <a:latin typeface="Century Gothic" panose="020B0502020202020204" pitchFamily="34" charset="0"/>
                <a:ea typeface="Noto Serif HK Bold" pitchFamily="34" charset="-122"/>
                <a:cs typeface="Noto Serif HK Bold" pitchFamily="34" charset="-120"/>
              </a:rPr>
              <a:t>The Continent</a:t>
            </a:r>
            <a:endParaRPr lang="en-US" sz="2400" dirty="0">
              <a:latin typeface="Century Gothic" panose="020B0502020202020204" pitchFamily="34" charset="0"/>
            </a:endParaRPr>
          </a:p>
        </p:txBody>
      </p:sp>
      <p:sp>
        <p:nvSpPr>
          <p:cNvPr id="27" name="Text 20"/>
          <p:cNvSpPr/>
          <p:nvPr/>
        </p:nvSpPr>
        <p:spPr>
          <a:xfrm>
            <a:off x="2207895" y="7075884"/>
            <a:ext cx="11471434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dirty="0">
                <a:solidFill>
                  <a:srgbClr val="D3C9C5"/>
                </a:solidFill>
                <a:latin typeface="Century Gothic" panose="020B0502020202020204" pitchFamily="34" charset="0"/>
                <a:ea typeface="Noto Serif HK" pitchFamily="34" charset="-122"/>
                <a:cs typeface="Noto Serif HK" pitchFamily="34" charset="-120"/>
              </a:rPr>
              <a:t>Pan-African expansion: Uganda, Tanzania, Rwanda, Ghana</a:t>
            </a:r>
            <a:endParaRPr lang="en-US" sz="2000" dirty="0">
              <a:latin typeface="Century Gothic" panose="020B0502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0F5A92E-94D1-AD93-84E7-883CCB4BC7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729681" y="7705618"/>
            <a:ext cx="1828800" cy="441789"/>
          </a:xfrm>
          <a:prstGeom prst="rect">
            <a:avLst/>
          </a:prstGeom>
          <a:solidFill>
            <a:srgbClr val="4032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99636"/>
            <a:ext cx="7556421" cy="4253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b="1" dirty="0">
                <a:solidFill>
                  <a:srgbClr val="FFF8F5"/>
                </a:solidFill>
                <a:latin typeface="Century Gothic" panose="020B0502020202020204" pitchFamily="34" charset="0"/>
                <a:ea typeface="Noto Serif HK Bold" pitchFamily="34" charset="-122"/>
                <a:cs typeface="Noto Serif HK Bold" pitchFamily="34" charset="-120"/>
              </a:rPr>
              <a:t>Umuntu ngumuntu ngabantu</a:t>
            </a:r>
            <a:endParaRPr lang="en-US" sz="8900" dirty="0">
              <a:latin typeface="Century Gothic" panose="020B0502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5492829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FFF8F5"/>
                </a:solidFill>
                <a:latin typeface="Century Gothic" panose="020B0502020202020204" pitchFamily="34" charset="0"/>
                <a:ea typeface="Noto Serif HK Bold" pitchFamily="34" charset="-122"/>
                <a:cs typeface="Noto Serif HK Bold" pitchFamily="34" charset="-120"/>
              </a:rPr>
              <a:t>A person is a person through other people</a:t>
            </a:r>
            <a:endParaRPr lang="en-US" sz="3550" dirty="0">
              <a:latin typeface="Century Gothic" panose="020B0502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280190" y="696694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Century Gothic" panose="020B0502020202020204" pitchFamily="34" charset="0"/>
                <a:ea typeface="Noto Serif HK" pitchFamily="34" charset="-122"/>
                <a:cs typeface="Noto Serif HK" pitchFamily="34" charset="-120"/>
              </a:rPr>
              <a:t>Now — through data — we protect them all.</a:t>
            </a:r>
            <a:endParaRPr lang="en-US" sz="175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6819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8F5"/>
                </a:solidFill>
                <a:latin typeface="Century Gothic" panose="020B0502020202020204" pitchFamily="34" charset="0"/>
                <a:ea typeface="Noto Serif HK Bold" pitchFamily="34" charset="-122"/>
                <a:cs typeface="Noto Serif HK Bold" pitchFamily="34" charset="-120"/>
              </a:rPr>
              <a:t>The Promise</a:t>
            </a:r>
            <a:endParaRPr lang="en-US" sz="4450" dirty="0">
              <a:latin typeface="Century Gothic" panose="020B0502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3830598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403234"/>
          </a:solidFill>
          <a:ln w="30480">
            <a:solidFill>
              <a:srgbClr val="786A6C"/>
            </a:solidFill>
            <a:prstDash val="solid"/>
          </a:ln>
        </p:spPr>
        <p:txBody>
          <a:bodyPr/>
          <a:lstStyle/>
          <a:p>
            <a:endParaRPr lang="en-US">
              <a:latin typeface="Century Gothic" panose="020B0502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63310" y="3830598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E2C2B3"/>
          </a:solidFill>
          <a:ln/>
        </p:spPr>
        <p:txBody>
          <a:bodyPr/>
          <a:lstStyle/>
          <a:p>
            <a:endParaRPr lang="en-US">
              <a:latin typeface="Century Gothic" panose="020B0502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42524" y="4087892"/>
            <a:ext cx="35206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Century Gothic" panose="020B0502020202020204" pitchFamily="34" charset="0"/>
                <a:ea typeface="Noto Serif HK Bold" pitchFamily="34" charset="-122"/>
                <a:cs typeface="Noto Serif HK Bold" pitchFamily="34" charset="-120"/>
              </a:rPr>
              <a:t>We didn't build a feature</a:t>
            </a:r>
            <a:endParaRPr lang="en-US" sz="2200" dirty="0">
              <a:latin typeface="Century Gothic" panose="020B0502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42524" y="4578310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Century Gothic" panose="020B0502020202020204" pitchFamily="34" charset="0"/>
                <a:ea typeface="Noto Serif HK" pitchFamily="34" charset="-122"/>
                <a:cs typeface="Noto Serif HK" pitchFamily="34" charset="-120"/>
              </a:rPr>
              <a:t>We built a promise — that no customer should face a loss we could have seen coming</a:t>
            </a:r>
            <a:endParaRPr lang="en-US" sz="1750" dirty="0">
              <a:latin typeface="Century Gothic" panose="020B0502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428548" y="3830598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403234"/>
          </a:solidFill>
          <a:ln w="30480">
            <a:solidFill>
              <a:srgbClr val="786A6C"/>
            </a:solidFill>
            <a:prstDash val="solid"/>
          </a:ln>
        </p:spPr>
        <p:txBody>
          <a:bodyPr/>
          <a:lstStyle/>
          <a:p>
            <a:endParaRPr lang="en-US">
              <a:latin typeface="Century Gothic" panose="020B0502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398067" y="3830598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E2C2B3"/>
          </a:solidFill>
          <a:ln/>
        </p:spPr>
        <p:txBody>
          <a:bodyPr/>
          <a:lstStyle/>
          <a:p>
            <a:endParaRPr lang="en-US">
              <a:latin typeface="Century Gothic" panose="020B0502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7282" y="40878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Century Gothic" panose="020B0502020202020204" pitchFamily="34" charset="0"/>
                <a:ea typeface="Noto Serif HK Bold" pitchFamily="34" charset="-122"/>
                <a:cs typeface="Noto Serif HK Bold" pitchFamily="34" charset="-120"/>
              </a:rPr>
              <a:t>That is Ubuntu</a:t>
            </a:r>
            <a:endParaRPr lang="en-US" sz="2200" dirty="0">
              <a:latin typeface="Century Gothic" panose="020B0502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7282" y="4578310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Century Gothic" panose="020B0502020202020204" pitchFamily="34" charset="0"/>
                <a:ea typeface="Noto Serif HK" pitchFamily="34" charset="-122"/>
                <a:cs typeface="Noto Serif HK" pitchFamily="34" charset="-120"/>
              </a:rPr>
              <a:t>That is Bima AI</a:t>
            </a:r>
            <a:endParaRPr lang="en-US" sz="1750" dirty="0">
              <a:latin typeface="Century Gothic" panose="020B0502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83FB557-FD6A-5E0C-8844-F835C077A7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773413"/>
            <a:ext cx="2178122" cy="10890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741</TotalTime>
  <Words>502</Words>
  <Application>Microsoft Office PowerPoint</Application>
  <PresentationFormat>Custom</PresentationFormat>
  <Paragraphs>63</Paragraphs>
  <Slides>9</Slides>
  <Notes>9</Notes>
  <HiddenSlides>2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Lynette Rop</dc:creator>
  <cp:lastModifiedBy>Shawn Irungu</cp:lastModifiedBy>
  <cp:revision>5</cp:revision>
  <dcterms:created xsi:type="dcterms:W3CDTF">2026-03-26T16:52:10Z</dcterms:created>
  <dcterms:modified xsi:type="dcterms:W3CDTF">2026-03-27T06:57:23Z</dcterms:modified>
</cp:coreProperties>
</file>